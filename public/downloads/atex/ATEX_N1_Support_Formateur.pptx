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E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274552" y="0"/>
            <a:ext cx="914400" cy="685800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5156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Formation ATEX NIV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1">
                <a:solidFill>
                  <a:srgbClr val="CADCFC"/>
                </a:solidFill>
                <a:latin typeface="Calibri"/>
              </a:rPr>
              <a:t>Habilitation du personnel travaillant en zone ATEX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112745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B4D0"/>
                </a:solidFill>
                <a:latin typeface="Calibri"/>
              </a:rPr>
              <a:t>Formation ATEX NIV 1 — Habilitation Intervenant | Prévensia Groupe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Intervenant : ______________________________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74920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Date : ___________________   Effectif : ______</a:t>
            </a:r>
          </a:p>
        </p:txBody>
      </p:sp>
      <p:pic>
        <p:nvPicPr>
          <p:cNvPr id="8" name="Picture 7" descr="atex-danger-categori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Programme de la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887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ATEX NIV 1 — Habilitation Intervenant | Prévensia Groupe  •  INERIS Oméga 36 (2025)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2011680" cy="731519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777240"/>
            <a:ext cx="2011680" cy="7315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09:00 – 09:15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777240"/>
            <a:ext cx="7772400" cy="73151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Accueil, émargement, présentation des objectifs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777240"/>
            <a:ext cx="1737360" cy="7315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15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2011680" cy="731519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54480"/>
            <a:ext cx="2011680" cy="7315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1A4E8C"/>
                </a:solidFill>
                <a:latin typeface="Calibri"/>
              </a:rPr>
              <a:t>09:15 – 10:15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554480"/>
            <a:ext cx="7772400" cy="73151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MOD 1-3 : Mécanisme explosion / Zones / Marquage 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1554480"/>
            <a:ext cx="1737360" cy="7315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60 min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31720"/>
            <a:ext cx="2011680" cy="731519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331720"/>
            <a:ext cx="2011680" cy="7315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10:15 – 10:25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331720"/>
            <a:ext cx="7772400" cy="73151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☕  Pause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331720"/>
            <a:ext cx="1737360" cy="7315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10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08960"/>
            <a:ext cx="2011680" cy="731519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108960"/>
            <a:ext cx="2011680" cy="7315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1A4E8C"/>
                </a:solidFill>
                <a:latin typeface="Calibri"/>
              </a:rPr>
              <a:t>10:25 – 11:25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108960"/>
            <a:ext cx="7772400" cy="73151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MOD 4-6 : DRPCE / Explosimètre / EPI antistatiques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108960"/>
            <a:ext cx="1737360" cy="7315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60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86200"/>
            <a:ext cx="2011680" cy="731519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886200"/>
            <a:ext cx="2011680" cy="7315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1A4E8C"/>
                </a:solidFill>
                <a:latin typeface="Calibri"/>
              </a:rPr>
              <a:t>11:25 – 12:15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886200"/>
            <a:ext cx="7772400" cy="73151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MOD 7-11 : Outils / Maintenance / Urgence / Élec-Méca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886200"/>
            <a:ext cx="1737360" cy="7315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50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663440"/>
            <a:ext cx="2011680" cy="731519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663440"/>
            <a:ext cx="2011680" cy="7315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12:15 – 12:30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663440"/>
            <a:ext cx="7772400" cy="73151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☕  Pause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4663440"/>
            <a:ext cx="1737360" cy="7315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15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440679"/>
            <a:ext cx="2011680" cy="731519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5440679"/>
            <a:ext cx="2011680" cy="7315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12:30 – 13:00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5440679"/>
            <a:ext cx="7772400" cy="731519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MOD 12 : Synthèse + QCM 15 questions (seuil 80%)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5440679"/>
            <a:ext cx="1737360" cy="731519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6B7280"/>
                </a:solidFill>
                <a:latin typeface="Calibri"/>
              </a:rPr>
              <a:t>30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Profil &amp; objectifs — INERIS Oméga 36 §3.2.4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Cadre réglementaire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887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ATEX NIV 1 — Habilitation Intervenant | Prévensia Groupe  •  INERIS Oméga 36 (2025)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31520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2C2C2C"/>
                </a:solidFill>
                <a:latin typeface="Calibri"/>
              </a:rPr>
              <a:t>À l'issue de la formation, les stagiaires seront capables de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71323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400">
                <a:solidFill>
                  <a:srgbClr val="2C2C2C"/>
                </a:solidFill>
                <a:latin typeface="Calibri"/>
              </a:rPr>
              <a:t>Identifier les zones ATEX et lire un plan de zonage (0/1/2 — 20/21/22)</a:t>
            </a:r>
          </a:p>
          <a:p>
            <a:pPr lvl="1"/>
            <a:r>
              <a:rPr sz="1400">
                <a:solidFill>
                  <a:srgbClr val="2C2C2C"/>
                </a:solidFill>
                <a:latin typeface="Calibri"/>
              </a:rPr>
              <a:t>Lire et interpréter les marquages Ex sur les équipements</a:t>
            </a:r>
          </a:p>
          <a:p>
            <a:pPr lvl="1"/>
            <a:r>
              <a:rPr sz="1400">
                <a:solidFill>
                  <a:srgbClr val="2C2C2C"/>
                </a:solidFill>
                <a:latin typeface="Calibri"/>
              </a:rPr>
              <a:t>Choisir, porter et entretenir les EPI antistatiques (3 normes cumulatives)</a:t>
            </a:r>
          </a:p>
          <a:p>
            <a:pPr lvl="1"/>
            <a:r>
              <a:rPr sz="1400">
                <a:solidFill>
                  <a:srgbClr val="2C2C2C"/>
                </a:solidFill>
                <a:latin typeface="Calibri"/>
              </a:rPr>
              <a:t>Utiliser un explosimètre certifié Ex : bump test, seuils 20% LIE</a:t>
            </a:r>
          </a:p>
          <a:p>
            <a:pPr lvl="1"/>
            <a:r>
              <a:rPr sz="1400">
                <a:solidFill>
                  <a:srgbClr val="2C2C2C"/>
                </a:solidFill>
                <a:latin typeface="Calibri"/>
              </a:rPr>
              <a:t>Appliquer les procédures AT et permis de feu avant toute intervention</a:t>
            </a:r>
          </a:p>
          <a:p>
            <a:pPr lvl="1"/>
            <a:r>
              <a:rPr sz="1400">
                <a:solidFill>
                  <a:srgbClr val="2C2C2C"/>
                </a:solidFill>
                <a:latin typeface="Calibri"/>
              </a:rPr>
              <a:t>Réagir correctement en cas d'alarme ou urgence (réflexes PEAS)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731520"/>
            <a:ext cx="4206240" cy="5669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822960"/>
            <a:ext cx="4206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1A4E8C"/>
                </a:solidFill>
                <a:latin typeface="Calibri"/>
              </a:rPr>
              <a:t>INERIS Oméga 36 §3.2.4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463040"/>
            <a:ext cx="4023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67E00"/>
                </a:solidFill>
                <a:latin typeface="Calibri"/>
              </a:rPr>
              <a:t>Profil ciblé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783080"/>
            <a:ext cx="393192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Toute personne amenée à intervenir physiquement sur des équipements situés en zone ATEX (maintenance, exploitation, contrôle)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200400"/>
            <a:ext cx="4023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67E00"/>
                </a:solidFill>
                <a:latin typeface="Calibri"/>
              </a:rPr>
              <a:t>Prérequis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66160"/>
            <a:ext cx="39319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• NIV 0 conseillé
• Autorisation de travail en zone ATEX
• Notions électriques de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846320"/>
            <a:ext cx="39319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1A4E8C"/>
                </a:solidFill>
                <a:latin typeface="Calibri"/>
              </a:rPr>
              <a:t>Recyclage tous les 3 ans
ou après incident ATEX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2743200"/>
            <a:ext cx="1188720" cy="1188720"/>
          </a:xfrm>
          <a:prstGeom prst="ellipse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0"/>
            <a:ext cx="11887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834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4E8C"/>
                </a:solidFill>
                <a:latin typeface="Calibri"/>
              </a:rPr>
              <a:t>Mécanisme de l'explosion — LIE / 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8404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INERIS Oméga 36 §1.2 — Triangle du feu — Domaine d'explosivité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Formation ATEX NIV 1 — Prévensia Groupe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MOD 1 — Mécanisme de l'explosion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Module 1/12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887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ATEX NIV 1 — Habilitation Intervenant | Prévensia Groupe  •  INERIS Oméga 36 (2025)</a:t>
            </a:r>
          </a:p>
        </p:txBody>
      </p:sp>
      <p:pic>
        <p:nvPicPr>
          <p:cNvPr id="7" name="Picture 6" descr="atex-formation-lie-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548640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21208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Triangle du feu + domaine d'explosivité LIE/LSE — INERIS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400">
                <a:solidFill>
                  <a:srgbClr val="2C2C2C"/>
                </a:solidFill>
                <a:latin typeface="Calibri"/>
              </a:rPr>
              <a:t>ATEX = Atmosphère EXplosive (Dir. 1999/92/CE)</a:t>
            </a:r>
          </a:p>
          <a:p>
            <a:pPr lvl="1"/>
            <a:r>
              <a:rPr sz="1400">
                <a:solidFill>
                  <a:srgbClr val="2C2C2C"/>
                </a:solidFill>
                <a:latin typeface="Calibri"/>
              </a:rPr>
              <a:t>explosible ≠ explosive (§1.2 INERIS Oméga 36)</a:t>
            </a:r>
          </a:p>
          <a:p>
            <a:pPr lvl="1"/>
            <a:r>
              <a:rPr sz="1400">
                <a:solidFill>
                  <a:srgbClr val="2C2C2C"/>
                </a:solidFill>
                <a:latin typeface="Calibri"/>
              </a:rPr>
              <a:t>LIE — Limite Inférieure d'Explosivité</a:t>
            </a:r>
          </a:p>
          <a:p>
            <a:pPr lvl="1"/>
            <a:r>
              <a:rPr sz="1400">
                <a:solidFill>
                  <a:srgbClr val="2C2C2C"/>
                </a:solidFill>
                <a:latin typeface="Calibri"/>
              </a:rPr>
              <a:t>LSE — Limite Supérieure d'Explosivité</a:t>
            </a:r>
          </a:p>
          <a:p>
            <a:pPr lvl="1"/>
            <a:r>
              <a:rPr sz="1400">
                <a:solidFill>
                  <a:srgbClr val="2C2C2C"/>
                </a:solidFill>
                <a:latin typeface="Calibri"/>
              </a:rPr>
              <a:t>Entre LIE et LSE = domaine d'explosivité</a:t>
            </a:r>
          </a:p>
          <a:p>
            <a:pPr lvl="1"/>
            <a:r>
              <a:rPr sz="1400">
                <a:solidFill>
                  <a:srgbClr val="2C2C2C"/>
                </a:solidFill>
                <a:latin typeface="Calibri"/>
              </a:rPr>
              <a:t>Méthane : LIE 5% — LSE 15%</a:t>
            </a:r>
          </a:p>
          <a:p>
            <a:pPr lvl="1"/>
            <a:r>
              <a:rPr sz="1400">
                <a:solidFill>
                  <a:srgbClr val="2C2C2C"/>
                </a:solidFill>
                <a:latin typeface="Calibri"/>
              </a:rPr>
              <a:t>Hydrogène : LIE 4% — LSE 75%</a:t>
            </a:r>
          </a:p>
          <a:p>
            <a:pPr lvl="1"/>
            <a:r>
              <a:rPr sz="1400">
                <a:solidFill>
                  <a:srgbClr val="2C2C2C"/>
                </a:solidFill>
                <a:latin typeface="Calibri"/>
              </a:rPr>
              <a:t>Alarme explosimètre : 20% de la LIE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486400"/>
            <a:ext cx="5852160" cy="10972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5550408"/>
            <a:ext cx="557784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A4E8C"/>
                </a:solidFill>
                <a:latin typeface="Calibri"/>
              </a:rPr>
              <a:t>★ Attention terminologie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explosible = conditions chimiques réunies, SANS source d'inflammation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explosive = mélange explosible + source d'inflammation présente → explosion effective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2743200"/>
            <a:ext cx="1188720" cy="1188720"/>
          </a:xfrm>
          <a:prstGeom prst="ellipse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0"/>
            <a:ext cx="11887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834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4E8C"/>
                </a:solidFill>
                <a:latin typeface="Calibri"/>
              </a:rPr>
              <a:t>Classification des zones ATEX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8404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Zones 0/1/2 (gaz) — Zones 20/21/22 (poussières)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Formation ATEX NIV 1 — Prévensia Groupe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MOD 2 — Zones gaz et poussières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Module 2/12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887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ATEX NIV 1 — Habilitation Intervenant | Prévensia Groupe  •  INERIS Oméga 36 (2025)</a:t>
            </a:r>
          </a:p>
        </p:txBody>
      </p:sp>
      <p:pic>
        <p:nvPicPr>
          <p:cNvPr id="7" name="Picture 6" descr="atex-classification-zones-ce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5852160" cy="3657600"/>
          </a:xfrm>
          <a:prstGeom prst="rect">
            <a:avLst/>
          </a:prstGeom>
        </p:spPr>
      </p:pic>
      <p:pic>
        <p:nvPicPr>
          <p:cNvPr id="8" name="Picture 7" descr="atex-schema-zones-atelier-bo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5852160" cy="1828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6400800"/>
            <a:ext cx="58521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 i="1">
                <a:solidFill>
                  <a:srgbClr val="6B7280"/>
                </a:solidFill>
                <a:latin typeface="Calibri"/>
              </a:rPr>
              <a:t>Exemple : zonage atelier bois (zones 20/21/22)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731520"/>
            <a:ext cx="5577840" cy="36576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731520"/>
            <a:ext cx="5577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Zone — Fréquence ATEX — Catégorie requise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188720"/>
            <a:ext cx="5577840" cy="731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188720"/>
            <a:ext cx="1828800" cy="73152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18872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Zone 0 /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2C2C2C"/>
                </a:solidFill>
                <a:latin typeface="Calibri"/>
              </a:rPr>
              <a:t>PERMANENTE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1188720"/>
            <a:ext cx="1645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Catégorie 1G / 1D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965960"/>
            <a:ext cx="5577840" cy="731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65960"/>
            <a:ext cx="1828800" cy="73152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9659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Zone 1 / 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9659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2C2C2C"/>
                </a:solidFill>
                <a:latin typeface="Calibri"/>
              </a:rPr>
              <a:t>OCCASIONNELLE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1965960"/>
            <a:ext cx="1645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Catégorie 2G / 2D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743200"/>
            <a:ext cx="5577840" cy="731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2743200"/>
            <a:ext cx="1828800" cy="73152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74320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Zone 2 / 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74320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2C2C2C"/>
                </a:solidFill>
                <a:latin typeface="Calibri"/>
              </a:rPr>
              <a:t>EXCEPTIONNELLE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2743200"/>
            <a:ext cx="1645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2C2C2C"/>
                </a:solidFill>
                <a:latin typeface="Calibri"/>
              </a:rPr>
              <a:t>Catégorie 3G / 3D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657600"/>
            <a:ext cx="5577840" cy="13716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721608"/>
            <a:ext cx="53035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66534"/>
                </a:solidFill>
                <a:latin typeface="Calibri"/>
              </a:rPr>
              <a:t>★ Règle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Cat. sup. utilisable dans zone inférieure (1G OK en zone 1 et 2)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Couches de poussières = ATEX même sans nuage visible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Vérifier plan de zonage AVANT d'entrer en zone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120640"/>
            <a:ext cx="5577840" cy="10058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5184648"/>
            <a:ext cx="53035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2400E"/>
                </a:solidFill>
                <a:latin typeface="Calibri"/>
              </a:rPr>
              <a:t>★ Cas maintenance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Ouverture bride circuit gaz → zone 1 temporaire autour du point d'intervention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2743200"/>
            <a:ext cx="1188720" cy="1188720"/>
          </a:xfrm>
          <a:prstGeom prst="ellipse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0"/>
            <a:ext cx="11887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834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4E8C"/>
                </a:solidFill>
                <a:latin typeface="Calibri"/>
              </a:rPr>
              <a:t>Lecture des marquages 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8404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Dir. 2014/34/UE — Normes IEC 60079 — Décoder la plaque équipement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Formation ATEX NIV 1 — Prévensia Groupe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MOD 3 — Décoder le marquage 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Module 3/12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887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ATEX NIV 1 — Habilitation Intervenant | Prévensia Groupe  •  INERIS Oméga 36 (2025)</a:t>
            </a:r>
          </a:p>
        </p:txBody>
      </p:sp>
      <p:pic>
        <p:nvPicPr>
          <p:cNvPr id="7" name="Picture 6" descr="atex-exemple-marquage-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557784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663440"/>
            <a:ext cx="5577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Étiquette réelle annotée : II 2G Ex ib IIC T4 Gb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31520"/>
            <a:ext cx="5852160" cy="36576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731520"/>
            <a:ext cx="5852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Élément   →   Signification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1188720" cy="73152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188720"/>
            <a:ext cx="1188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188720"/>
            <a:ext cx="4526280" cy="731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1188720"/>
            <a:ext cx="4434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Groupe — Industrie de surface (I = mines)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965960"/>
            <a:ext cx="1188720" cy="731520"/>
          </a:xfrm>
          <a:prstGeom prst="rect">
            <a:avLst/>
          </a:prstGeom>
          <a:solidFill>
            <a:srgbClr val="12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965960"/>
            <a:ext cx="1188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1965960"/>
            <a:ext cx="45262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1965960"/>
            <a:ext cx="4434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Catégorie 2, gaz → Zone 1 (1G = Zone 0, 3G = Zone 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43200"/>
            <a:ext cx="1188720" cy="73152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2743200"/>
            <a:ext cx="1188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Ex ib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8760" y="2743200"/>
            <a:ext cx="4526280" cy="731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2743200"/>
            <a:ext cx="4434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Mode protection — Sécurité intrinsèque niveau 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20439"/>
            <a:ext cx="1188720" cy="731520"/>
          </a:xfrm>
          <a:prstGeom prst="rect">
            <a:avLst/>
          </a:prstGeom>
          <a:solidFill>
            <a:srgbClr val="12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520439"/>
            <a:ext cx="1188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8760" y="3520439"/>
            <a:ext cx="45262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3520439"/>
            <a:ext cx="4434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Groupe gaz — plus exigeant : H₂, acétylène, CS₂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297680"/>
            <a:ext cx="1188720" cy="73152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297680"/>
            <a:ext cx="1188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4297680"/>
            <a:ext cx="4526280" cy="731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4297680"/>
            <a:ext cx="4434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Classe temp. — surface max 135°C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074920"/>
            <a:ext cx="1188720" cy="731520"/>
          </a:xfrm>
          <a:prstGeom prst="rect">
            <a:avLst/>
          </a:prstGeom>
          <a:solidFill>
            <a:srgbClr val="123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5074920"/>
            <a:ext cx="1188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08760" y="5074920"/>
            <a:ext cx="45262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5074920"/>
            <a:ext cx="44348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EPL b — niveau de protection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897880"/>
            <a:ext cx="5852160" cy="9601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79" y="5961888"/>
            <a:ext cx="557784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92400E"/>
                </a:solidFill>
                <a:latin typeface="Calibri"/>
              </a:rPr>
              <a:t>★ Règles de compatibilité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Cat. sup. utilisable en zone inférieure : 1G OK en Zone 2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IIC couvre IIB et IIA — groupe le plus exigeant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T° surface DOIT être &lt; TAI du produit présent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2743200"/>
            <a:ext cx="1188720" cy="1188720"/>
          </a:xfrm>
          <a:prstGeom prst="ellipse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0"/>
            <a:ext cx="11887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834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4E8C"/>
                </a:solidFill>
                <a:latin typeface="Calibri"/>
              </a:rPr>
              <a:t>DRPCE &amp; Autorisation de Travail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8404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Art. R4227-52 — Art. R4515-8 — Permis de feu obligatoire travaux par points chauds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Formation ATEX NIV 1 — Prévensia Groupe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MOD 4 — DRPCE &amp; Autorisation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Module 4/12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887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ATEX NIV 1 — Habilitation Intervenant | Prévensia Groupe  •  INERIS Oméga 36 (2025)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31520"/>
            <a:ext cx="5486400" cy="36576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73152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DRPCE — Art. R4227-52 du Code du travail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1887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Évaluation des risques d'explosion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Plan de zonage ATEX délimité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Mesures de prévention retenues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Liste équipements Ex + certificats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Procédures AT et permis de feu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526280"/>
            <a:ext cx="5486400" cy="10058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4590288"/>
            <a:ext cx="521208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91C1C"/>
                </a:solidFill>
                <a:latin typeface="Calibri"/>
              </a:rPr>
              <a:t>★ ⚠  Révision obligatoire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Après TOUTE modification significative de l'installation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Après tout incident ATEX — même mineur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731520"/>
            <a:ext cx="5943600" cy="36576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73152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Autorisation de Travail + Permis de feu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18872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AT obligatoire avant TOUTE intervention zone ATEX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Délivrée par le référent ATEX désigné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Durée limitée à une intervention spécifique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Permis de feu : soudure, meulage, découpe, perçage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→ 1ère cause accidents ATEX (données INRS/ARIA)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526280"/>
            <a:ext cx="5943600" cy="7315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4590288"/>
            <a:ext cx="5669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91C1C"/>
                </a:solidFill>
                <a:latin typeface="Calibri"/>
              </a:rPr>
              <a:t>★ Règle absolue</a:t>
            </a:r>
          </a:p>
          <a:p>
            <a:pPr lvl="1"/>
            <a:r>
              <a:rPr sz="1200">
                <a:solidFill>
                  <a:srgbClr val="2C2C2C"/>
                </a:solidFill>
                <a:latin typeface="Calibri"/>
              </a:rPr>
              <a:t>Pas d'AT = interdiction absolue d'entrer en zone ATEX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669280"/>
            <a:ext cx="11704320" cy="5029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5669280"/>
            <a:ext cx="117043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⚠  DRPCE ≠ DRPE — Document Relatif à la Protection Contre les Explosions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2743200"/>
            <a:ext cx="1188720" cy="1188720"/>
          </a:xfrm>
          <a:prstGeom prst="ellipse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0"/>
            <a:ext cx="11887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834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4E8C"/>
                </a:solidFill>
                <a:latin typeface="Calibri"/>
              </a:rPr>
              <a:t>L'explosimètre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8404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Appareil certifié Ex — Bump test quotidien — Seuils 20% et 50% de la LIE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Formation ATEX NIV 1 — Prévensia Groupe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MOD 5 — L'explosimètre : utilisation &amp; étalonnage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Module 5/12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887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ATEX NIV 1 — Habilitation Intervenant | Prévensia Groupe  •  INERIS Oméga 36 (2025)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77240"/>
            <a:ext cx="11887200" cy="11887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777240"/>
            <a:ext cx="2560320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25603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 – 19% LIE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777240"/>
            <a:ext cx="8961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2C2C2C"/>
                </a:solidFill>
                <a:latin typeface="Calibri"/>
              </a:rPr>
              <a:t>VERT — Zone sûre pour l'intervention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57400"/>
            <a:ext cx="11887200" cy="11887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057400"/>
            <a:ext cx="2560320" cy="118872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057400"/>
            <a:ext cx="25603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20% LIE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057400"/>
            <a:ext cx="8961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2C2C2C"/>
                </a:solidFill>
                <a:latin typeface="Calibri"/>
              </a:rPr>
              <a:t>ALARME BASSE — Arrêt immédiat des travaux, contrôle renforcé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887200" cy="11887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337560"/>
            <a:ext cx="2560320" cy="11887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337560"/>
            <a:ext cx="25603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&gt; 50% LIE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37560"/>
            <a:ext cx="89611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0">
                <a:solidFill>
                  <a:srgbClr val="2C2C2C"/>
                </a:solidFill>
                <a:latin typeface="Calibri"/>
              </a:rPr>
              <a:t>ALARME HAUTE — Évacuation immédiate de la zone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617720"/>
            <a:ext cx="5760720" cy="36576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617720"/>
            <a:ext cx="5760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Vérifications obligatoires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074920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200">
                <a:solidFill>
                  <a:srgbClr val="2C2C2C"/>
                </a:solidFill>
                <a:latin typeface="Calibri"/>
              </a:rPr>
              <a:t>Bump test : AVANT chaque utilisation (gaz de même famille)</a:t>
            </a:r>
          </a:p>
          <a:p>
            <a:pPr lvl="1"/>
            <a:r>
              <a:rPr sz="1200">
                <a:solidFill>
                  <a:srgbClr val="2C2C2C"/>
                </a:solidFill>
                <a:latin typeface="Calibri"/>
              </a:rPr>
              <a:t>Étalonnage périodique selon fabricant (généralement semestriel)</a:t>
            </a:r>
          </a:p>
          <a:p>
            <a:pPr lvl="1"/>
            <a:r>
              <a:rPr sz="1200">
                <a:solidFill>
                  <a:srgbClr val="2C2C2C"/>
                </a:solidFill>
                <a:latin typeface="Calibri"/>
              </a:rPr>
              <a:t>Compte rendu d'étalonnage à conserver (traçabilité)</a:t>
            </a:r>
          </a:p>
          <a:p>
            <a:pPr lvl="1"/>
            <a:r>
              <a:rPr sz="1200">
                <a:solidFill>
                  <a:srgbClr val="2C2C2C"/>
                </a:solidFill>
                <a:latin typeface="Calibri"/>
              </a:rPr>
              <a:t>Appareil lui-même certifié Ex pour la zone concernée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617720"/>
            <a:ext cx="5760720" cy="14173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681728"/>
            <a:ext cx="5486400" cy="128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2400E"/>
                </a:solidFill>
                <a:latin typeface="Calibri"/>
              </a:rPr>
              <a:t>★ Point clé pédagogique</a:t>
            </a:r>
          </a:p>
          <a:p>
            <a:pPr lvl="1"/>
            <a:r>
              <a:rPr sz="1200">
                <a:solidFill>
                  <a:srgbClr val="2C2C2C"/>
                </a:solidFill>
                <a:latin typeface="Calibri"/>
              </a:rPr>
              <a:t>20% de la LIE ≠ 20% de l'air — nuance souvent incomprise</a:t>
            </a:r>
          </a:p>
          <a:p>
            <a:pPr lvl="1"/>
            <a:r>
              <a:rPr sz="1200">
                <a:solidFill>
                  <a:srgbClr val="2C2C2C"/>
                </a:solidFill>
                <a:latin typeface="Calibri"/>
              </a:rPr>
              <a:t>Alarme = arrêt immédiat — pas de finition de l'intervention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2743200"/>
            <a:ext cx="1188720" cy="1188720"/>
          </a:xfrm>
          <a:prstGeom prst="ellipse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0"/>
            <a:ext cx="11887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834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4E8C"/>
                </a:solidFill>
                <a:latin typeface="Calibri"/>
              </a:rPr>
              <a:t>EPI Antistatiques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8404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Casque EN 397/A1 • Vêtements EN 1149-5 + EN ISO 14116 + EN ISO 11612 • Gants EN 60903 • Chaussures EN ISO 20345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Formation ATEX NIV 1 — Prévensia Groupe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MOD 6 — EPI antistatiques : normes et 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Module 6/12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887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ATEX NIV 1 — Habilitation Intervenant | Prévensia Groupe  •  INERIS Oméga 36 (2025)</a:t>
            </a:r>
          </a:p>
        </p:txBody>
      </p:sp>
      <p:pic>
        <p:nvPicPr>
          <p:cNvPr id="7" name="Picture 6" descr="atex-fiche-epi-mab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557784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349240"/>
            <a:ext cx="5577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Fiche EPI ATEX Mabéo Industries — Système complet de protection antistatique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31520"/>
            <a:ext cx="5852160" cy="36576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731520"/>
            <a:ext cx="5852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EPI   →   Norme(s) requise(s)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1828800" cy="8686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188720"/>
            <a:ext cx="1828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Casque ESD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188720"/>
            <a:ext cx="3931920" cy="8686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1188720"/>
            <a:ext cx="38404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EN 397/A1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103120"/>
            <a:ext cx="1828800" cy="8686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103120"/>
            <a:ext cx="1828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Vêtements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103120"/>
            <a:ext cx="39319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2103120"/>
            <a:ext cx="38404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EN 1149-5 + EN ISO 14116 + EN ISO 11612  (3 normes cumulatives)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17520"/>
            <a:ext cx="1828800" cy="8686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3017520"/>
            <a:ext cx="1828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Gants isolants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3017520"/>
            <a:ext cx="3931920" cy="8686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3017520"/>
            <a:ext cx="38404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EN 60903 — tester avant chaque utilisation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31920"/>
            <a:ext cx="1828800" cy="8686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3931920"/>
            <a:ext cx="1828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Chaussures ESD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3931920"/>
            <a:ext cx="39319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3931920"/>
            <a:ext cx="38404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EN ISO 20345 + propriété ESD (résistance 100 kΩ à 1000 MΩ)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846320"/>
            <a:ext cx="1828800" cy="8686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846320"/>
            <a:ext cx="182880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Sous-vêtements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4846320"/>
            <a:ext cx="3931920" cy="8686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4846320"/>
            <a:ext cx="384048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Coton ou antistatiques certifiés — INTERDIT polyester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806440"/>
            <a:ext cx="5852160" cy="9144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5870448"/>
            <a:ext cx="55778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91C1C"/>
                </a:solidFill>
                <a:latin typeface="Calibri"/>
              </a:rPr>
              <a:t>★ ⚠  Règle système ABSOLUE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EPI complet ou protection NULLE — un seul élément manquant annule la protection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Polyester interdit sous combinaison — accumule les charges électrostatiques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2743200"/>
            <a:ext cx="1188720" cy="1188720"/>
          </a:xfrm>
          <a:prstGeom prst="ellipse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0"/>
            <a:ext cx="11887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7–8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834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4E8C"/>
                </a:solidFill>
                <a:latin typeface="Calibri"/>
              </a:rPr>
              <a:t>Outils &amp; Maintenance 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8404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Outils anti-étincelles Cu-Be/Cu-Al — Équipements certifiés Ex — EN 60079-17 (3 niveaux d'inspection)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Formation ATEX NIV 1 — Prévensia Groupe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MOD 7-8 — Outils &amp; Maintenance 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Modules 7-8/12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887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ATEX NIV 1 — Habilitation Intervenant | Prévensia Groupe  •  INERIS Oméga 36 (2025)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31520"/>
            <a:ext cx="5760720" cy="36576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731520"/>
            <a:ext cx="5760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 7 — Outils en zone ATEX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188720"/>
            <a:ext cx="5760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Zone 0/1 : outils en alliages Cu-Be ou Cu-Al (anti-étincelles)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Zone 2 : acier possible avec analyse de risque préalable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TOUT équipement électronique → certification Ex obligatoire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Téléphone standard = INTERDIT en zone ATEX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Vérifier marquage Ex sur chaque outil apporté en zone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206240"/>
            <a:ext cx="5760720" cy="13716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4270248"/>
            <a:ext cx="54864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2400E"/>
                </a:solidFill>
                <a:latin typeface="Calibri"/>
              </a:rPr>
              <a:t>★ Question piège</a:t>
            </a:r>
          </a:p>
          <a:p>
            <a:pPr lvl="1"/>
            <a:r>
              <a:rPr sz="1200">
                <a:solidFill>
                  <a:srgbClr val="2C2C2C"/>
                </a:solidFill>
                <a:latin typeface="Calibri"/>
              </a:rPr>
              <a:t>Le technicien apporte sa lampe frontale habituelle en zone 1. Est-ce autorisé ?
→ NON, sauf si elle porte un marquage Ex catégorie 2G.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731520"/>
            <a:ext cx="5760720" cy="36576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731520"/>
            <a:ext cx="5760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MOD 8 — Maintenance EN 60079-17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188720"/>
            <a:ext cx="5760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3 niveaux : visuelle / rapprochée / détaillée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Modification équipements Ex → INTERDITE sans certificateur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Pièces de rechange = pièces d'origine certifiées uniquement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Chaque intervention documentée dans le registre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Anomalie = arrêt + signalement + analyse avant remise en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5760720" cy="13716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270248"/>
            <a:ext cx="548640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91C1C"/>
                </a:solidFill>
                <a:latin typeface="Calibri"/>
              </a:rPr>
              <a:t>★ Point critique</a:t>
            </a:r>
          </a:p>
          <a:p>
            <a:pPr lvl="1"/>
            <a:r>
              <a:rPr sz="1200">
                <a:solidFill>
                  <a:srgbClr val="2C2C2C"/>
                </a:solidFill>
                <a:latin typeface="Calibri"/>
              </a:rPr>
              <a:t>Un équipement Ex modifié perd sa certification = source d'inflammation potentielle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2743200"/>
            <a:ext cx="1188720" cy="1188720"/>
          </a:xfrm>
          <a:prstGeom prst="ellipse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0"/>
            <a:ext cx="11887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834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4E8C"/>
                </a:solidFill>
                <a:latin typeface="Calibri"/>
              </a:rPr>
              <a:t>Conduite à tenir en urgence — PEAS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8404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Protéger → Examiner → Alerter → Secourir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Formation ATEX NIV 1 — Prévensia Groupe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MOD 9 — Urgence : réflexes PEAS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Module 9/12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887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ATEX NIV 1 — Habilitation Intervenant | Prévensia Groupe  •  INERIS Oméga 36 (2025)</a:t>
            </a:r>
          </a:p>
        </p:txBody>
      </p:sp>
      <p:pic>
        <p:nvPicPr>
          <p:cNvPr id="7" name="Picture 6" descr="atex-panneau-zone-inter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73152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489204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50" b="0" i="1">
                <a:solidFill>
                  <a:srgbClr val="6B7280"/>
                </a:solidFill>
                <a:latin typeface="Calibri"/>
              </a:rPr>
              <a:t>3 interdictions réglementaires en zone ATEX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914400"/>
            <a:ext cx="914400" cy="9144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91440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9144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PROTÉGER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371600"/>
            <a:ext cx="6126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Sécuriser la zone — éloigner les personnes — identifier les risques persistants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228600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28600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860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EXAMINER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43200"/>
            <a:ext cx="6126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Évaluer la victime : consciente ? Répond ? Respire ? Saigne ?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" y="36576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65760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576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3B82F6"/>
                </a:solidFill>
                <a:latin typeface="Calibri"/>
              </a:rPr>
              <a:t>ALERTER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114800"/>
            <a:ext cx="6126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15 SAMU / 18 Pompiers / 112 — Lieu exact, produits, nb victimes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" y="5029200"/>
            <a:ext cx="914400" cy="9144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5029200"/>
            <a:ext cx="914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2920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22C55E"/>
                </a:solidFill>
                <a:latin typeface="Calibri"/>
              </a:rPr>
              <a:t>SECOURIR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486400"/>
            <a:ext cx="6126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Gestes 1ers secours si formé. NE PAS entrer dans atmosphère explosive sans EPI.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6355080"/>
            <a:ext cx="7315200" cy="8686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6419088"/>
            <a:ext cx="7040880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91C1C"/>
                </a:solidFill>
                <a:latin typeface="Calibri"/>
              </a:rPr>
              <a:t>★ Ne pas courir !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Les chocs mécaniques peuvent créer des étincelles en zone ATEX</a:t>
            </a:r>
          </a:p>
          <a:p>
            <a:pPr lvl="1"/>
            <a:r>
              <a:rPr sz="1100">
                <a:solidFill>
                  <a:srgbClr val="2C2C2C"/>
                </a:solidFill>
                <a:latin typeface="Calibri"/>
              </a:rPr>
              <a:t>Ne pas allumer/éteindre de source électrique en sortant de la zone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2743200"/>
            <a:ext cx="1188720" cy="1188720"/>
          </a:xfrm>
          <a:prstGeom prst="ellipse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0"/>
            <a:ext cx="11887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10–11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834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4E8C"/>
                </a:solidFill>
                <a:latin typeface="Calibri"/>
              </a:rPr>
              <a:t>Spécificités électriques &amp; mécaniques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8404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EN 60079-14 (élec.) — EN ISO 80079-36/37 (méca. non élec.) — Friction, températures, liaisons équipotentielles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Formation ATEX NIV 1 — Prévensia Groupe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MOD 10-11 — Spécificités élec. &amp; méca.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Modules 10-11/12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887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ATEX NIV 1 — Habilitation Intervenant | Prévensia Groupe  •  INERIS Oméga 36 (2025)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31520"/>
            <a:ext cx="5760720" cy="36576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731520"/>
            <a:ext cx="5760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Électrique — EN 60079-14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18872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Presse-étoupe certifiés Ex = maintien intégrité boîtier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Liaisons équipotentielles entre équipements conducteurs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Mise à la terre AVANT toute utilisation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Mode p (surpression) : purge obligatoire avant mise sous tension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Anomalie de pression → mise hors tension automatique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572000"/>
            <a:ext cx="5760720" cy="8229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4636008"/>
            <a:ext cx="5486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2400E"/>
                </a:solidFill>
                <a:latin typeface="Calibri"/>
              </a:rPr>
              <a:t>★ Vigilance</a:t>
            </a:r>
          </a:p>
          <a:p>
            <a:pPr lvl="1"/>
            <a:r>
              <a:rPr sz="1200">
                <a:solidFill>
                  <a:srgbClr val="2C2C2C"/>
                </a:solidFill>
                <a:latin typeface="Calibri"/>
              </a:rPr>
              <a:t>Presse-étoupe fissuré = équipement à arrêter immédiatement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731520"/>
            <a:ext cx="5760720" cy="36576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731520"/>
            <a:ext cx="5760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Mécanique — EN ISO 80079-36/37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18872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Pompes, ventilateurs, convoyeurs : friction → étincelles + surchauffe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Ventilateur ATEX : roue Cu-Al/Cu-Be + jeu pâle/carter garanti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Lubrification insuffisante → surchauffe → TAI atteinte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Vibration anormale → arrêt + signalement immédiat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Toute fuite joint = anomalie à traiter sans délai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572000"/>
            <a:ext cx="5760720" cy="8229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636008"/>
            <a:ext cx="54864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2400E"/>
                </a:solidFill>
                <a:latin typeface="Calibri"/>
              </a:rPr>
              <a:t>★ Vigilance</a:t>
            </a:r>
          </a:p>
          <a:p>
            <a:pPr lvl="1"/>
            <a:r>
              <a:rPr sz="1200">
                <a:solidFill>
                  <a:srgbClr val="2C2C2C"/>
                </a:solidFill>
                <a:latin typeface="Calibri"/>
              </a:rPr>
              <a:t>Vibration anormale + bruit inhabituel = signalement immédiat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577840"/>
            <a:ext cx="11704320" cy="64008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641848"/>
            <a:ext cx="1143000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91C1C"/>
                </a:solidFill>
                <a:latin typeface="Calibri"/>
              </a:rPr>
              <a:t>★ Message commun</a:t>
            </a:r>
          </a:p>
          <a:p>
            <a:pPr lvl="1"/>
            <a:r>
              <a:rPr sz="1200">
                <a:solidFill>
                  <a:srgbClr val="2C2C2C"/>
                </a:solidFill>
                <a:latin typeface="Calibri"/>
              </a:rPr>
              <a:t>Ne jamais improviser une réparation temporaire sur un équipement Ex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2743200"/>
            <a:ext cx="1188720" cy="1188720"/>
          </a:xfrm>
          <a:prstGeom prst="ellipse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743200"/>
            <a:ext cx="11887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83080" y="28346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1A4E8C"/>
                </a:solidFill>
                <a:latin typeface="Calibri"/>
              </a:rPr>
              <a:t>Synthèse — Les 10 règles de l'intervenant ATEX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84048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INERIS Oméga 36 (2025) — Bonnes pratiques INRS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Formation ATEX NIV 1 — Prévensia Groupe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MOD 12 — Les 10 règles de l'intervenant ATEX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Module 12/12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887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ATEX NIV 1 — Habilitation Intervenant | Prévensia Groupe  •  INERIS Oméga 36 (2025)</a:t>
            </a:r>
          </a:p>
        </p:txBody>
      </p:sp>
      <p:pic>
        <p:nvPicPr>
          <p:cNvPr id="7" name="Picture 6" descr="atex-bonnes-pratiques-in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731520"/>
            <a:ext cx="4572000" cy="5943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67208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50" b="0" i="1">
                <a:solidFill>
                  <a:srgbClr val="6B7280"/>
                </a:solidFill>
                <a:latin typeface="Calibri"/>
              </a:rPr>
              <a:t>Bonnes pratiques ATEX — INRS (affiche officielle)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69494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1. Connaître la classification ATEX de la zone (plan de zonage)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2. Posséder une autorisation de travail (AT) valide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3. Porter tous ses EPI certifiés — complet ou nul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4. Utiliser uniquement des équipements certifiés Ex adaptés à la zone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5. Contrôler l'atmosphère avec l'explosimètre certifié Ex (bump test fait)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6. Interdire téléphone standard, lampe, appareil non certifié Ex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7. Ne jamais fumer ni utiliser une flamme nue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8. Obtenir un permis de feu pour tout travail par points chauds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9. Signaler toute fuite, anomalie ou dégradation de signalisation</a:t>
            </a:r>
          </a:p>
          <a:p>
            <a:pPr lvl="1"/>
            <a:r>
              <a:rPr sz="1300">
                <a:solidFill>
                  <a:srgbClr val="2C2C2C"/>
                </a:solidFill>
                <a:latin typeface="Calibri"/>
              </a:rPr>
              <a:t>10. En cas d'alarme : arrêt immédiat, évacuation calme, réflexes PEAS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0"/>
            <a:ext cx="9601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QCM d'évaluation — 15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Évaluation finale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565392"/>
            <a:ext cx="118872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ATEX NIV 1 — Habilitation Intervenant | Prévensia Groupe  •  INERIS Oméga 36 (2025)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731520"/>
            <a:ext cx="11612880" cy="54864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731520"/>
            <a:ext cx="11612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Seuil de réussite : 80%  ≥  12 bonnes réponses sur 15  |  Durée : 15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1097280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1732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Q1-Q2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417320"/>
            <a:ext cx="4572000" cy="6400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1417320"/>
            <a:ext cx="4480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LIE/LSE — Mécanisme explosion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21408"/>
            <a:ext cx="1097280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121408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121408"/>
            <a:ext cx="4572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2121408"/>
            <a:ext cx="4480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Seuil alarme explosimètre (20% LIE)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825496"/>
            <a:ext cx="1097280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825496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Q4-Q5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825496"/>
            <a:ext cx="4572000" cy="6400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2825496"/>
            <a:ext cx="4480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Normes EPI — vêtements et chaussures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529584"/>
            <a:ext cx="1097280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529584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3529584"/>
            <a:ext cx="4572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3529584"/>
            <a:ext cx="4480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Permis de feu + AT — documents obligatoires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233672"/>
            <a:ext cx="1097280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4233672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63040" y="4233672"/>
            <a:ext cx="4572000" cy="6400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08760" y="4233672"/>
            <a:ext cx="4480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Réflexe en cas d'alarme explosive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37760"/>
            <a:ext cx="1097280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93776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4937760"/>
            <a:ext cx="4572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8760" y="4937760"/>
            <a:ext cx="4480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Classe température T4 = 135°C max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41848"/>
            <a:ext cx="1097280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5641848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5641848"/>
            <a:ext cx="4572000" cy="6400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08760" y="5641848"/>
            <a:ext cx="4480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Catégorie équipement Zone 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417320"/>
            <a:ext cx="1097280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141732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1417320"/>
            <a:ext cx="4572000" cy="6400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1417320"/>
            <a:ext cx="4480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Norme chaussures ESD : EN ISO 20345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121408"/>
            <a:ext cx="1097280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2121408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2121408"/>
            <a:ext cx="4572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60" y="2121408"/>
            <a:ext cx="4480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Bump test avant utilisation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2825496"/>
            <a:ext cx="1097280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2825496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2825496"/>
            <a:ext cx="4572000" cy="6400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2825496"/>
            <a:ext cx="4480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Personne habilitée à délivrer l'AT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529584"/>
            <a:ext cx="1097280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3529584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3529584"/>
            <a:ext cx="4572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52360" y="3529584"/>
            <a:ext cx="4480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Rôle et contenu du DRPCE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233672"/>
            <a:ext cx="1097280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233672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06640" y="4233672"/>
            <a:ext cx="4572000" cy="6400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2360" y="4233672"/>
            <a:ext cx="4480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Ordre PEAS correct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4937760"/>
            <a:ext cx="1097280" cy="640080"/>
          </a:xfrm>
          <a:prstGeom prst="rect">
            <a:avLst/>
          </a:prstGeom>
          <a:solidFill>
            <a:srgbClr val="1A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4937760"/>
            <a:ext cx="10972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Q15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06640" y="4937760"/>
            <a:ext cx="4572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52360" y="4937760"/>
            <a:ext cx="4480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2C2C2C"/>
                </a:solidFill>
                <a:latin typeface="Calibri"/>
              </a:rPr>
              <a:t>Compatibilité groupe IIB en atmosphère IIB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6355080"/>
            <a:ext cx="11612880" cy="685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79" y="6419088"/>
            <a:ext cx="11338559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4E8C"/>
                </a:solidFill>
                <a:latin typeface="Calibri"/>
              </a:rPr>
              <a:t>★ Correction à faire en groupe oral</a:t>
            </a:r>
          </a:p>
          <a:p>
            <a:pPr lvl="1"/>
            <a:r>
              <a:rPr sz="1200">
                <a:solidFill>
                  <a:srgbClr val="2C2C2C"/>
                </a:solidFill>
                <a:latin typeface="Calibri"/>
              </a:rPr>
              <a:t>Q1 (explosible ≠ explosive) — Q3 (20% LIE pas 20% air) — Q15 (compatibilité groupe) = questions les plus difficiles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E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274552" y="0"/>
            <a:ext cx="914400" cy="6858000"/>
          </a:xfrm>
          <a:prstGeom prst="rect">
            <a:avLst/>
          </a:prstGeom>
          <a:solidFill>
            <a:srgbClr val="E6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5156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Formation terminée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1">
                <a:solidFill>
                  <a:srgbClr val="CADCFC"/>
                </a:solidFill>
                <a:latin typeface="Calibri"/>
              </a:rPr>
              <a:t>Merci pour votre participation et votre vigilance en zone ATEX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2240"/>
            <a:ext cx="11274552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0B4D0"/>
                </a:solidFill>
                <a:latin typeface="Calibri"/>
              </a:rPr>
              <a:t>Formation ATEX NIV 1 — Habilitation Intervenant | Prévensia Groupe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5029200" cy="2560320"/>
          </a:xfrm>
          <a:prstGeom prst="rect">
            <a:avLst/>
          </a:prstGeom>
          <a:solidFill>
            <a:srgbClr val="0D3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E67E00"/>
                </a:solidFill>
                <a:latin typeface="Calibri"/>
              </a:rPr>
              <a:t>Attestation de 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48463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• Émargement électronique enregistré
• Score QCM archivé
• Attestation générée et envoyée par email
• Archivage Prévensia 5 ans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200400"/>
            <a:ext cx="5029200" cy="2560320"/>
          </a:xfrm>
          <a:prstGeom prst="rect">
            <a:avLst/>
          </a:prstGeom>
          <a:solidFill>
            <a:srgbClr val="0D35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29184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E67E00"/>
                </a:solidFill>
                <a:latin typeface="Calibri"/>
              </a:rPr>
              <a:t>Recyclage recommandé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3840480"/>
            <a:ext cx="48463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• Tous les 3 ans (évolution réglementation)
• Après tout incident ATEX
• Après changement de zone d'intervention
• Accès e-learning actif 12 mois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A0B4D0"/>
                </a:solidFill>
                <a:latin typeface="Calibri"/>
              </a:rPr>
              <a:t>prevensia.fr  |  contact@prevensia.fr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